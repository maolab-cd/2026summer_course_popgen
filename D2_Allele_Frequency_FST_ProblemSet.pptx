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3200" b="0">
                <a:solidFill>
                  <a:srgbClr val="000000"/>
                </a:solidFill>
                <a:latin typeface="Arial"/>
              </a:rPr>
              <a:t>Exercise: allele frequency and FST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Goal: from genotypes to allele frequencies, then to population differentiation.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44752"/>
            <a:ext cx="10698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latin typeface="Arial"/>
              </a:defRPr>
            </a:pPr>
            <a:r>
              <a:t>• Genotype coding: 0, 1, 2 = number of counted alleles in a diploid individual.</a:t>
            </a:r>
          </a:p>
          <a:p>
            <a:pPr>
              <a:spcAft>
                <a:spcPts val="400"/>
              </a:spcAft>
              <a:defRPr sz="2000">
                <a:latin typeface="Arial"/>
              </a:defRPr>
            </a:pPr>
            <a:r>
              <a:t>• For each population and SNP: allele frequency = mean genotype / 2.</a:t>
            </a:r>
          </a:p>
          <a:p>
            <a:pPr>
              <a:spcAft>
                <a:spcPts val="400"/>
              </a:spcAft>
              <a:defRPr sz="2000">
                <a:latin typeface="Arial"/>
              </a:defRPr>
            </a:pPr>
            <a:r>
              <a:t>• Use the Week 1 definition: Var(p1 - p2) = 2 FST p(1 - p).</a:t>
            </a:r>
          </a:p>
          <a:p>
            <a:pPr>
              <a:spcAft>
                <a:spcPts val="400"/>
              </a:spcAft>
              <a:defRPr sz="2000">
                <a:latin typeface="Arial"/>
              </a:defRPr>
            </a:pPr>
            <a:r>
              <a:t>• Classroom estimator: FST ≈ mean{ (p1 - p2)^2 / [2 pbar(1 - pbar)] } across SNPs.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63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Toy genotype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429000"/>
          <a:ext cx="75895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pop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SNP1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SNP2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SNP3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SNP4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CEU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0,0,0,1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0,1,1,1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0,0,1,1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1,1,1,2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YRI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1,1,2,2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1,1,2,2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0,0,1,1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0,1,1,1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Arial"/>
                        </a:rPr>
                        <a:t>CHB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0,1,1,1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0,0,1,1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1,1,2,2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Arial"/>
                        </a:rPr>
                        <a:t>1,1,2,2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86460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464646"/>
                </a:solidFill>
                <a:latin typeface="Arial"/>
              </a:rPr>
              <a:t>Each cell lists four genotypes from one population.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063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Discussion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3456432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latin typeface="Arial"/>
              </a:defRPr>
            </a:pPr>
            <a:r>
              <a:t>• Which SNP has the largest CEU–YRI difference?</a:t>
            </a:r>
          </a:p>
          <a:p>
            <a:pPr>
              <a:spcAft>
                <a:spcPts val="700"/>
              </a:spcAft>
              <a:defRPr sz="1700">
                <a:latin typeface="Arial"/>
              </a:defRPr>
            </a:pPr>
            <a:r>
              <a:t>• Which population pair has the largest mean FST?</a:t>
            </a:r>
          </a:p>
          <a:p>
            <a:pPr>
              <a:spcAft>
                <a:spcPts val="700"/>
              </a:spcAft>
              <a:defRPr sz="1700">
                <a:latin typeface="Arial"/>
              </a:defRPr>
            </a:pPr>
            <a:r>
              <a:t>• Why is a single SNP not enough to describe population structure?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3200" b="0">
                <a:solidFill>
                  <a:srgbClr val="000000"/>
                </a:solidFill>
                <a:latin typeface="Arial"/>
              </a:rPr>
              <a:t>Python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Run the script and interpret the output; do not focus on programming details.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What the script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530352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>
                <a:latin typeface="Arial"/>
              </a:defRPr>
            </a:pPr>
            <a:r>
              <a:rPr dirty="0"/>
              <a:t>1. Create a small genotype table.</a:t>
            </a:r>
          </a:p>
          <a:p>
            <a:pPr>
              <a:spcAft>
                <a:spcPts val="500"/>
              </a:spcAft>
              <a:defRPr sz="2000">
                <a:latin typeface="Arial"/>
              </a:defRPr>
            </a:pPr>
            <a:r>
              <a:rPr dirty="0"/>
              <a:t>2. Calculate allele frequencies by population.</a:t>
            </a:r>
          </a:p>
          <a:p>
            <a:pPr>
              <a:spcAft>
                <a:spcPts val="500"/>
              </a:spcAft>
              <a:defRPr sz="2000">
                <a:latin typeface="Arial"/>
              </a:defRPr>
            </a:pPr>
            <a:r>
              <a:rPr dirty="0"/>
              <a:t>3. Calculate pairwise FST using the Week 1 formula.</a:t>
            </a:r>
          </a:p>
          <a:p>
            <a:pPr>
              <a:spcAft>
                <a:spcPts val="500"/>
              </a:spcAft>
              <a:defRPr sz="2000">
                <a:latin typeface="Arial"/>
              </a:defRPr>
            </a:pPr>
            <a:r>
              <a:rPr dirty="0"/>
              <a:t>4. Average FST across SNPs.</a:t>
            </a:r>
          </a:p>
          <a:p>
            <a:pPr>
              <a:spcAft>
                <a:spcPts val="500"/>
              </a:spcAft>
              <a:defRPr sz="2000">
                <a:latin typeface="Arial"/>
              </a:defRPr>
            </a:pPr>
            <a:r>
              <a:rPr dirty="0"/>
              <a:t>5. Save a bar plot.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Key formula in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39" y="4462272"/>
            <a:ext cx="5602539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60857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800" b="0" dirty="0">
                <a:solidFill>
                  <a:srgbClr val="000000"/>
                </a:solidFill>
                <a:latin typeface="Courier New"/>
              </a:rPr>
              <a:t>pbar = (p1 + p2) / 2
FST  = (p1 - p2)^2 / [2 pbar (1 - pbar)]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4813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Expected output to 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47088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>
                <a:latin typeface="Arial"/>
              </a:defRPr>
            </a:pPr>
            <a:r>
              <a:t>• allele_frequencies.csv</a:t>
            </a:r>
          </a:p>
          <a:p>
            <a:pPr>
              <a:spcAft>
                <a:spcPts val="400"/>
              </a:spcAft>
              <a:defRPr sz="1900">
                <a:latin typeface="Arial"/>
              </a:defRPr>
            </a:pPr>
            <a:r>
              <a:t>• simple_pairwise_fst_price_formula.csv</a:t>
            </a:r>
          </a:p>
          <a:p>
            <a:pPr>
              <a:spcAft>
                <a:spcPts val="400"/>
              </a:spcAft>
              <a:defRPr sz="1900">
                <a:latin typeface="Arial"/>
              </a:defRPr>
            </a:pPr>
            <a:r>
              <a:t>• mean_simple_fst_price_formula.csv</a:t>
            </a:r>
          </a:p>
          <a:p>
            <a:pPr>
              <a:spcAft>
                <a:spcPts val="400"/>
              </a:spcAft>
              <a:defRPr sz="1900">
                <a:latin typeface="Arial"/>
              </a:defRPr>
            </a:pPr>
            <a:r>
              <a:t>• mean_simple_fst_price_formula.png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How to read the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79476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• Higher mean FST means larger average allele-frequency differences.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• FST does not prove natural selection; drift and sampling can also create differences.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• This toy example is for intuition. Real analyses require many SNPs and formal estimators.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357</Words>
  <Application>Microsoft Macintosh PowerPoint</Application>
  <PresentationFormat>宽屏</PresentationFormat>
  <Paragraphs>51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Courier New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Xiaowei Mao</cp:lastModifiedBy>
  <cp:revision>3</cp:revision>
  <dcterms:created xsi:type="dcterms:W3CDTF">2013-01-27T09:14:16Z</dcterms:created>
  <dcterms:modified xsi:type="dcterms:W3CDTF">2026-07-07T05:07:48Z</dcterms:modified>
  <cp:category/>
</cp:coreProperties>
</file>